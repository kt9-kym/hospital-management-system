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95500" y="2566987"/>
            <a:ext cx="8001000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1E293B"/>
                </a:solidFill>
                <a:latin typeface="Poppins"/>
              </a:rPr>
              <a:t>ORM vs. Raw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662362"/>
            <a:ext cx="76200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64748B"/>
                </a:solidFill>
                <a:latin typeface="Lato"/>
              </a:rPr>
              <a:t>Architectural Trade-offs, Performance Realities, and Final Recommendation for Backend-Database Communication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71737"/>
            <a:ext cx="5381625" cy="26955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471737"/>
            <a:ext cx="5381625" cy="2695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E293B"/>
                </a:solidFill>
                <a:latin typeface="Poppins"/>
              </a:rPr>
              <a:t>Raw SQL: Direct Database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2767012"/>
            <a:ext cx="5030628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F46E5"/>
                </a:solidFill>
                <a:latin typeface="Poppins"/>
              </a:rPr>
              <a:t>Core 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243262"/>
            <a:ext cx="479107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Writing explicit database queries in native SQL (e.g., PostgreSQL, MySQL dialect) directly within your application code or via thin database drivers.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252912"/>
            <a:ext cx="47910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Gives engineers 100% control over execution plans, database indexes, and query optimizations.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767012"/>
            <a:ext cx="5030628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F46E5"/>
                </a:solidFill>
                <a:latin typeface="Poppins"/>
              </a:rPr>
              <a:t>Key 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3243262"/>
            <a:ext cx="45529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Maximum Performance: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Zero framework overhead and precise query tuning.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3871912"/>
            <a:ext cx="45529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Advanced Features: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Full support for complex vendor-specific SQL functions, window functions, and CTEs.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2275" y="4500562"/>
            <a:ext cx="45529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Predictability: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What you write is exactly what executes.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0" y="3276600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0" y="3905250"/>
            <a:ext cx="1524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0" y="4533900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43150"/>
            <a:ext cx="5381625" cy="2952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343150"/>
            <a:ext cx="5381625" cy="2952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E293B"/>
                </a:solidFill>
                <a:latin typeface="Poppins"/>
              </a:rPr>
              <a:t>Object-Relational Mapping (ORM)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2638425"/>
            <a:ext cx="5030628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F46E5"/>
                </a:solidFill>
                <a:latin typeface="Poppins"/>
              </a:rPr>
              <a:t>Core 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114675"/>
            <a:ext cx="479107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An abstraction layer (like Prisma, Hibernate, SQLAlchemy, TypeORM) that maps database tables to application classes and records to objects.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124325"/>
            <a:ext cx="47910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Allows developers to manipulate data using object-oriented paradigms instead of writing text-based queries.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638425"/>
            <a:ext cx="5030628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F46E5"/>
                </a:solidFill>
                <a:latin typeface="Poppins"/>
              </a:rPr>
              <a:t>Key 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3114675"/>
            <a:ext cx="45529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Developer Velocity: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Rapid CRUD scaffolding and automated schema migrations.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3743325"/>
            <a:ext cx="45529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Type Safety: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Compile-time checks and auto-completion in modern 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2275" y="4371975"/>
            <a:ext cx="45529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Database Agnostic: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Ability to switch underlying SQL dialects with minimal code changes.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0" y="3148012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0" y="3776662"/>
            <a:ext cx="1524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0" y="4405312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E293B"/>
                </a:solidFill>
                <a:latin typeface="Poppins"/>
              </a:rPr>
              <a:t>Head-to-Head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543175"/>
          <a:ext cx="11048998" cy="2552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575768"/>
                <a:gridCol w="3978919"/>
                <a:gridCol w="4494311"/>
              </a:tblGrid>
              <a:tr h="51054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Poppins"/>
                        </a:rPr>
                        <a:t>Metric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Poppins"/>
                        </a:rPr>
                        <a:t>Raw SQL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Poppins"/>
                        </a:rPr>
                        <a:t>ORM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00000"/>
                          </a:solidFill>
                          <a:latin typeface="Lato"/>
                        </a:rPr>
                        <a:t>Development Speed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Lato"/>
                        </a:rPr>
                        <a:t>Slower (Requires manual query writing)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Lato"/>
                        </a:rPr>
                        <a:t>Fast (Boilerplate generation, auto-relations)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00000"/>
                          </a:solidFill>
                          <a:latin typeface="Lato"/>
                        </a:rPr>
                        <a:t>Query Performance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Lato"/>
                        </a:rPr>
                        <a:t>High (Easily optimized, no hidden abstraction)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Lato"/>
                        </a:rPr>
                        <a:t>Variable (Prone to N+1 query problems if unmanaged)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00000"/>
                          </a:solidFill>
                          <a:latin typeface="Lato"/>
                        </a:rPr>
                        <a:t>Security (SQL Injection)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Lato"/>
                        </a:rPr>
                        <a:t>High risk if parameterized queries are bypassed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Lato"/>
                        </a:rPr>
                        <a:t>Built-in protection via parameterized abstraction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00000"/>
                          </a:solidFill>
                          <a:latin typeface="Lato"/>
                        </a:rPr>
                        <a:t>Maintenance &amp; Refactoring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Lato"/>
                        </a:rPr>
                        <a:t>Tedious across large schemas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Lato"/>
                        </a:rPr>
                        <a:t>Streamlined via code models and migrations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3100387"/>
            <a:ext cx="25757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47268" y="3100387"/>
            <a:ext cx="39789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26188" y="3100387"/>
            <a:ext cx="44943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595687"/>
            <a:ext cx="25757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47268" y="3595687"/>
            <a:ext cx="39789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26188" y="3595687"/>
            <a:ext cx="44943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090987"/>
            <a:ext cx="25757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47268" y="4090987"/>
            <a:ext cx="39789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26188" y="4090987"/>
            <a:ext cx="44943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586287"/>
            <a:ext cx="25757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47268" y="4586287"/>
            <a:ext cx="39789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26188" y="4586287"/>
            <a:ext cx="44943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081587"/>
            <a:ext cx="25757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47268" y="5081587"/>
            <a:ext cx="39789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26188" y="5081587"/>
            <a:ext cx="44943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2824162"/>
            <a:ext cx="7620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643" y="3052762"/>
            <a:ext cx="5710713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050" i="0" u="none">
                <a:solidFill>
                  <a:srgbClr val="1E293B"/>
                </a:solidFill>
                <a:latin typeface="Poppins"/>
              </a:rPr>
              <a:t>The Final Suggestion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81450" y="3967162"/>
            <a:ext cx="42291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Which approach should your backend architecture adopt?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62200"/>
            <a:ext cx="11049000" cy="29146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E293B"/>
                </a:solidFill>
                <a:latin typeface="Poppins"/>
              </a:rPr>
              <a:t>The Best Way: Hybrid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47950"/>
            <a:ext cx="1094136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312E81"/>
                </a:solidFill>
                <a:latin typeface="Poppins"/>
              </a:rPr>
              <a:t>Recommendation: Use an ORM by Default, Raw SQL for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62300"/>
            <a:ext cx="104203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1. Use ORM for 80% of Business Logic: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Standard CRUD operations, user accounts, profile management, and straightforward relational mapping benefit massively from ORM productivity and safety.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19525"/>
            <a:ext cx="104203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2. Drop to Raw SQL for the Remaining 20%: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High-throughput reporting queries, complex analytical aggregations, bulk inserts, and database-specific performance bottlenecks should leverage raw queries or query builders.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76750"/>
            <a:ext cx="104203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Takeaway: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Modern frameworks (like Prisma with raw query extensions or SQLAlchemy core) allow seamless co-existence, giving you speed of delivery without sacrificing raw execution power.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